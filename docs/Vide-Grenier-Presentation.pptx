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3DA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7A3D"/>
                </a:solidFill>
                <a:latin typeface="Calibri"/>
              </a:rPr>
              <a:t>PROJET INDIVIDUEL — BLOC 5 · CESI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Vide Grenier en Ligne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1">
                <a:solidFill>
                  <a:srgbClr val="C9CED6"/>
                </a:solidFill>
                <a:latin typeface="Calibri"/>
              </a:rPr>
              <a:t>Reprise, correction et mise en production d'une application de don entre particuliers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005840" cy="381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07A"/>
                </a:solidFill>
                <a:latin typeface="Calibri"/>
              </a:rPr>
              <a:t>Déployer et maintenir une application informatique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Téo Muller Heddar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Le projet : Vide Grenier en Ligne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400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24272E"/>
                </a:solidFill>
                <a:latin typeface="Calibri"/>
              </a:rPr>
              <a:t>Une application web qui permet à tout résident de France métropolitaine de donner gratuitement les objets qui dorment dans son grenier ou son garage : jeux de société, livres, puzzles…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443484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434840" cy="5029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67335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8600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150">
                <a:solidFill>
                  <a:srgbClr val="E87A3D"/>
                </a:solidFill>
                <a:latin typeface="Calibri"/>
              </a:rPr>
              <a:t>●  </a:t>
            </a:r>
            <a:r>
              <a:rPr sz="1450" b="1">
                <a:solidFill>
                  <a:srgbClr val="24272E"/>
                </a:solidFill>
                <a:latin typeface="Calibri"/>
              </a:rPr>
              <a:t>VideGrenierEnLigne</a:t>
            </a:r>
            <a:r>
              <a:rPr sz="1450">
                <a:solidFill>
                  <a:srgbClr val="24272E"/>
                </a:solidFill>
                <a:latin typeface="Calibri"/>
              </a:rPr>
              <a:t> — plateforme déjà en ligne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150">
                <a:solidFill>
                  <a:srgbClr val="E87A3D"/>
                </a:solidFill>
                <a:latin typeface="Calibri"/>
              </a:rPr>
              <a:t>●  </a:t>
            </a:r>
            <a:r>
              <a:rPr sz="1450" b="1">
                <a:solidFill>
                  <a:srgbClr val="24272E"/>
                </a:solidFill>
                <a:latin typeface="Calibri"/>
              </a:rPr>
              <a:t>Ancien prestataire</a:t>
            </a:r>
            <a:r>
              <a:rPr sz="1450">
                <a:solidFill>
                  <a:srgbClr val="24272E"/>
                </a:solidFill>
                <a:latin typeface="Calibri"/>
              </a:rPr>
              <a:t> en cessation d'activité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150">
                <a:solidFill>
                  <a:srgbClr val="E87A3D"/>
                </a:solidFill>
                <a:latin typeface="Calibri"/>
              </a:rPr>
              <a:t>●  </a:t>
            </a:r>
            <a:r>
              <a:rPr sz="1450" b="1">
                <a:solidFill>
                  <a:srgbClr val="24272E"/>
                </a:solidFill>
                <a:latin typeface="Calibri"/>
              </a:rPr>
              <a:t>Mission de reprise</a:t>
            </a:r>
            <a:r>
              <a:rPr sz="1450">
                <a:solidFill>
                  <a:srgbClr val="24272E"/>
                </a:solidFill>
                <a:latin typeface="Calibri"/>
              </a:rPr>
              <a:t> : un nouveau code repris tel quel, sans documentation vivante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150">
                <a:solidFill>
                  <a:srgbClr val="E87A3D"/>
                </a:solidFill>
                <a:latin typeface="Calibri"/>
              </a:rPr>
              <a:t>●  </a:t>
            </a:r>
            <a:r>
              <a:rPr sz="1450" b="1">
                <a:solidFill>
                  <a:srgbClr val="24272E"/>
                </a:solidFill>
                <a:latin typeface="Calibri"/>
              </a:rPr>
              <a:t>Signal du client</a:t>
            </a:r>
            <a:r>
              <a:rPr sz="1450">
                <a:solidFill>
                  <a:srgbClr val="24272E"/>
                </a:solidFill>
                <a:latin typeface="Calibri"/>
              </a:rPr>
              <a:t> : de nombreuses erreurs remontées par les utilisateurs réels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Trois volets de travail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6118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611880" cy="109728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87A3D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1F2A"/>
                </a:solidFill>
                <a:latin typeface="Calibri"/>
              </a:rPr>
              <a:t>Environnement de
développement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3063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707A"/>
                </a:solidFill>
                <a:latin typeface="Calibri"/>
              </a:rPr>
              <a:t>Docker + Docker Compose : serveur web et base de données, code monté en bind mount, lancé par un script unique.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118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611880" cy="109728"/>
          </a:xfrm>
          <a:prstGeom prst="rect">
            <a:avLst/>
          </a:prstGeom>
          <a:solidFill>
            <a:srgbClr val="3DA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3DA58A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1F2A"/>
                </a:solidFill>
                <a:latin typeface="Calibri"/>
              </a:rPr>
              <a:t>Correction des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03320"/>
            <a:ext cx="3063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707A"/>
                </a:solidFill>
                <a:latin typeface="Calibri"/>
              </a:rPr>
              <a:t>Les 4 anomalies remontées par le client, tracées via des issues et corrigées en respectant le GitFlow.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36118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691640"/>
            <a:ext cx="3611880" cy="109728"/>
          </a:xfrm>
          <a:prstGeom prst="rect">
            <a:avLst/>
          </a:prstGeom>
          <a:solidFill>
            <a:srgbClr val="5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96596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5B6BA8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1F2A"/>
                </a:solidFill>
                <a:latin typeface="Calibri"/>
              </a:rPr>
              <a:t>Environnement de
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03320"/>
            <a:ext cx="3063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707A"/>
                </a:solidFill>
                <a:latin typeface="Calibri"/>
              </a:rPr>
              <a:t>Image Docker autonome embarquant le code de main, base de données persistante, coexistant avec le dev.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Stack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7A3D"/>
                </a:solidFill>
                <a:latin typeface="Calibri"/>
              </a:rPr>
              <a:t>Applicatif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PHP 7</a:t>
            </a:r>
            <a:r>
              <a:rPr sz="1600">
                <a:solidFill>
                  <a:srgbClr val="24272E"/>
                </a:solidFill>
                <a:latin typeface="Calibri"/>
              </a:rPr>
              <a:t> — mini-framework MVC maison (pas de Symfony/Laravel)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Twig</a:t>
            </a:r>
            <a:r>
              <a:rPr sz="1600">
                <a:solidFill>
                  <a:srgbClr val="24272E"/>
                </a:solidFill>
                <a:latin typeface="Calibri"/>
              </a:rPr>
              <a:t> — moteur de templates pour les vues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MySQL</a:t>
            </a:r>
            <a:r>
              <a:rPr sz="1600">
                <a:solidFill>
                  <a:srgbClr val="24272E"/>
                </a:solidFill>
                <a:latin typeface="Calibri"/>
              </a:rPr>
              <a:t> via PDO — accès base de données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SCSS</a:t>
            </a:r>
            <a:r>
              <a:rPr sz="1600">
                <a:solidFill>
                  <a:srgbClr val="24272E"/>
                </a:solidFill>
                <a:latin typeface="Calibri"/>
              </a:rPr>
              <a:t> compilé avec node-sass pour le 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DA58A"/>
                </a:solidFill>
                <a:latin typeface="Calibri"/>
              </a:rPr>
              <a:t>Outillage &amp;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3DA58A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Docker / Docker Compose</a:t>
            </a:r>
            <a:r>
              <a:rPr sz="1600">
                <a:solidFill>
                  <a:srgbClr val="24272E"/>
                </a:solidFill>
                <a:latin typeface="Calibri"/>
              </a:rPr>
              <a:t> — pour les environnements dev et prod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3DA58A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PHPUnit</a:t>
            </a:r>
            <a:r>
              <a:rPr sz="1600">
                <a:solidFill>
                  <a:srgbClr val="24272E"/>
                </a:solidFill>
                <a:latin typeface="Calibri"/>
              </a:rPr>
              <a:t> — tests unitaires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3DA58A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Swagger / OpenAPI</a:t>
            </a:r>
            <a:r>
              <a:rPr sz="1600">
                <a:solidFill>
                  <a:srgbClr val="24272E"/>
                </a:solidFill>
                <a:latin typeface="Calibri"/>
              </a:rPr>
              <a:t> — documentation de l'API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300">
                <a:solidFill>
                  <a:srgbClr val="3DA58A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GitFlow</a:t>
            </a:r>
            <a:r>
              <a:rPr sz="1600">
                <a:solidFill>
                  <a:srgbClr val="24272E"/>
                </a:solidFill>
                <a:latin typeface="Calibri"/>
              </a:rPr>
              <a:t> — branches dev/main, issues, merge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7A3D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Structure du dépôt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E87A3D"/>
                </a:solidFill>
                <a:latin typeface="Menlo"/>
              </a:rPr>
              <a:t>App/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D8DCE2"/>
                </a:solidFill>
                <a:latin typeface="Menlo"/>
              </a:rPr>
              <a:t>  Controllers/  Home, Product, User, Api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D8DCE2"/>
                </a:solidFill>
                <a:latin typeface="Menlo"/>
              </a:rPr>
              <a:t>  Models/     Articles, Cities, User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D8DCE2"/>
                </a:solidFill>
                <a:latin typeface="Menlo"/>
              </a:rPr>
              <a:t>  Views/       templates Twig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D8DCE2"/>
                </a:solidFill>
                <a:latin typeface="Menlo"/>
              </a:rPr>
              <a:t>  Utility/     Hash, Upload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87A3D"/>
                </a:solidFill>
                <a:latin typeface="Menlo"/>
              </a:rPr>
              <a:t>Core/            le « framework » : Router, Controller, Model, View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87A3D"/>
                </a:solidFill>
                <a:latin typeface="Menlo"/>
              </a:rPr>
              <a:t>public/          point d'entrée (index.php) + assets front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87A3D"/>
                </a:solidFill>
                <a:latin typeface="Menlo"/>
              </a:rPr>
              <a:t>sql/             dump de la base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87A3D"/>
                </a:solidFill>
                <a:latin typeface="Menlo"/>
              </a:rPr>
              <a:t>style/           sources SCSS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87A3D"/>
                </a:solidFill>
                <a:latin typeface="Menlo"/>
              </a:rPr>
              <a:t>docker/  ·  docker-prod/     environnements Docker dev et prod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A9FAA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9FAA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VOLET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Environnement de développement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Deux containers Docker</a:t>
            </a:r>
            <a:r>
              <a:rPr sz="1600">
                <a:solidFill>
                  <a:srgbClr val="24272E"/>
                </a:solidFill>
                <a:latin typeface="Calibri"/>
              </a:rPr>
              <a:t> : serveur web + MySQL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Code en bind mount</a:t>
            </a:r>
            <a:r>
              <a:rPr sz="1600">
                <a:solidFill>
                  <a:srgbClr val="24272E"/>
                </a:solidFill>
                <a:latin typeface="Calibri"/>
              </a:rPr>
              <a:t> depuis src/ — modifications visibles instantanément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Import automatique</a:t>
            </a:r>
            <a:r>
              <a:rPr sz="1600">
                <a:solidFill>
                  <a:srgbClr val="24272E"/>
                </a:solidFill>
                <a:latin typeface="Calibri"/>
              </a:rPr>
              <a:t> de sql/import.sql au démarrage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Identifiants</a:t>
            </a:r>
            <a:r>
              <a:rPr sz="1600">
                <a:solidFill>
                  <a:srgbClr val="24272E"/>
                </a:solidFill>
                <a:latin typeface="Calibri"/>
              </a:rPr>
              <a:t> isolés dans .env.dev (copié depuis .env.dev.example)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300">
                <a:solidFill>
                  <a:srgbClr val="E87A3D"/>
                </a:solidFill>
                <a:latin typeface="Calibri"/>
              </a:rPr>
              <a:t>●  </a:t>
            </a:r>
            <a:r>
              <a:rPr sz="1600" b="1">
                <a:solidFill>
                  <a:srgbClr val="24272E"/>
                </a:solidFill>
                <a:latin typeface="Calibri"/>
              </a:rPr>
              <a:t>Compilation SCSS</a:t>
            </a:r>
            <a:r>
              <a:rPr sz="1600">
                <a:solidFill>
                  <a:srgbClr val="24272E"/>
                </a:solidFill>
                <a:latin typeface="Calibri"/>
              </a:rPr>
              <a:t> en watch via npm run watch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691640"/>
            <a:ext cx="5212080" cy="27432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87451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7A3D"/>
                </a:solidFill>
                <a:latin typeface="Menlo"/>
              </a:rPr>
              <a:t>$ ./dev.sh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31720"/>
            <a:ext cx="4663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D8DCE2"/>
                </a:solidFill>
                <a:latin typeface="Menlo"/>
              </a:rPr>
              <a:t>Arrêt des containers existants
Build + démarrage (web + base de données)
→ Site disponible sur http://localhost:8080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663440"/>
            <a:ext cx="5212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B707A"/>
                </a:solidFill>
                <a:latin typeface="Calibri"/>
              </a:rPr>
              <a:t>Un script shell unique pour monter tout l'environnement : reproductible pour n'importe quel poste de dev.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Workflow Git — GitFlow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9470" y="2103120"/>
            <a:ext cx="1874519" cy="105156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470" y="2103120"/>
            <a:ext cx="18745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3989" y="242316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B707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4029" y="2103120"/>
            <a:ext cx="1874519" cy="1051560"/>
          </a:xfrm>
          <a:prstGeom prst="rect">
            <a:avLst/>
          </a:prstGeom>
          <a:solidFill>
            <a:srgbClr val="D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64029" y="2103120"/>
            <a:ext cx="18745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Branche
dev/feature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8548" y="242316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B707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8588" y="2103120"/>
            <a:ext cx="1874519" cy="1051560"/>
          </a:xfrm>
          <a:prstGeom prst="rect">
            <a:avLst/>
          </a:prstGeom>
          <a:solidFill>
            <a:srgbClr val="C9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8588" y="2103120"/>
            <a:ext cx="18745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Commits
tracés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3107" y="242316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B707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53147" y="2103120"/>
            <a:ext cx="1874519" cy="1051560"/>
          </a:xfrm>
          <a:prstGeom prst="rect">
            <a:avLst/>
          </a:prstGeom>
          <a:solidFill>
            <a:srgbClr val="3DA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53147" y="2103120"/>
            <a:ext cx="18745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Merge
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7666" y="242316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B707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47706" y="2103120"/>
            <a:ext cx="1874519" cy="105156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47706" y="2103120"/>
            <a:ext cx="18745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main
(= prod)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E87A3D"/>
                </a:solidFill>
                <a:latin typeface="Calibri"/>
              </a:rPr>
              <a:t>●  </a:t>
            </a:r>
            <a:r>
              <a:rPr sz="1550" b="1">
                <a:solidFill>
                  <a:srgbClr val="24272E"/>
                </a:solidFill>
                <a:latin typeface="Calibri"/>
              </a:rPr>
              <a:t>Chaque bug / tâche</a:t>
            </a:r>
            <a:r>
              <a:rPr sz="1550">
                <a:solidFill>
                  <a:srgbClr val="24272E"/>
                </a:solidFill>
                <a:latin typeface="Calibri"/>
              </a:rPr>
              <a:t> correspond à une issue GitHub, assignée et suivie individuellement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E87A3D"/>
                </a:solidFill>
                <a:latin typeface="Calibri"/>
              </a:rPr>
              <a:t>●  </a:t>
            </a:r>
            <a:r>
              <a:rPr sz="1550" b="1">
                <a:solidFill>
                  <a:srgbClr val="24272E"/>
                </a:solidFill>
                <a:latin typeface="Calibri"/>
              </a:rPr>
              <a:t>Les branches de correctif</a:t>
            </a:r>
            <a:r>
              <a:rPr sz="1550">
                <a:solidFill>
                  <a:srgbClr val="24272E"/>
                </a:solidFill>
                <a:latin typeface="Calibri"/>
              </a:rPr>
              <a:t> partent toujours de dev, jamais de main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E87A3D"/>
                </a:solidFill>
                <a:latin typeface="Calibri"/>
              </a:rPr>
              <a:t>●  </a:t>
            </a:r>
            <a:r>
              <a:rPr sz="1550" b="1">
                <a:solidFill>
                  <a:srgbClr val="24272E"/>
                </a:solidFill>
                <a:latin typeface="Calibri"/>
              </a:rPr>
              <a:t>Le passage vers main</a:t>
            </a:r>
            <a:r>
              <a:rPr sz="1550">
                <a:solidFill>
                  <a:srgbClr val="24272E"/>
                </a:solidFill>
                <a:latin typeface="Calibri"/>
              </a:rPr>
              <a:t> se fait uniquement via merge request, une fois relue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E87A3D"/>
                </a:solidFill>
                <a:latin typeface="Calibri"/>
              </a:rPr>
              <a:t>●  </a:t>
            </a:r>
            <a:r>
              <a:rPr sz="1550" b="1">
                <a:solidFill>
                  <a:srgbClr val="24272E"/>
                </a:solidFill>
                <a:latin typeface="Calibri"/>
              </a:rPr>
              <a:t>main</a:t>
            </a:r>
            <a:r>
              <a:rPr sz="1550">
                <a:solidFill>
                  <a:srgbClr val="24272E"/>
                </a:solidFill>
                <a:latin typeface="Calibri"/>
              </a:rPr>
              <a:t> représente en permanence ce qui tourne (ou doit tourner) en production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E87A3D"/>
                </a:solidFill>
                <a:latin typeface="Calibri"/>
              </a:rPr>
              <a:t>●  </a:t>
            </a:r>
            <a:r>
              <a:rPr sz="1550" b="1">
                <a:solidFill>
                  <a:srgbClr val="24272E"/>
                </a:solidFill>
                <a:latin typeface="Calibri"/>
              </a:rPr>
              <a:t>Historique vivant</a:t>
            </a:r>
            <a:r>
              <a:rPr sz="1550">
                <a:solidFill>
                  <a:srgbClr val="24272E"/>
                </a:solidFill>
                <a:latin typeface="Calibri"/>
              </a:rPr>
              <a:t> : pas de commit unique fourre-tout — chaque étape est tracée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VOLET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Les 4 bugs remontés par le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09728" cy="196596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7A3D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992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B1F2A"/>
                </a:solidFill>
                <a:latin typeface="Calibri"/>
              </a:rPr>
              <a:t>Photo obligatoire dans une annonce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07A"/>
                </a:solidFill>
                <a:latin typeface="Calibri"/>
              </a:rPr>
              <a:t>Bug : Le champ photo était marqué requis et bloquait la publication.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DA58A"/>
                </a:solidFill>
                <a:latin typeface="Calibri"/>
              </a:rPr>
              <a:t>✓ Champ rendu optionnel.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109728" cy="196596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0992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7A3D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70992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B1F2A"/>
                </a:solidFill>
                <a:latin typeface="Calibri"/>
              </a:rPr>
              <a:t>Pas de connexion auto après inscription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13432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07A"/>
                </a:solidFill>
                <a:latin typeface="Calibri"/>
              </a:rPr>
              <a:t>Bug : Un nouvel utilisateur devait se reconnecter manuellement.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80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DA58A"/>
                </a:solidFill>
                <a:latin typeface="Calibri"/>
              </a:rPr>
              <a:t>✓ Connexion automatique après la création de compte.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109728" cy="196596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90448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7A3D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044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B1F2A"/>
                </a:solidFill>
                <a:latin typeface="Calibri"/>
              </a:rPr>
              <a:t>« Se souvenir de moi » inactif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07A"/>
                </a:solidFill>
                <a:latin typeface="Calibri"/>
              </a:rPr>
              <a:t>Bug : La case à cocher au login n'avait aucun effet.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20640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DA58A"/>
                </a:solidFill>
                <a:latin typeface="Calibri"/>
              </a:rPr>
              <a:t>✓ Fonctionnalité « remember me » implémentée.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79476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794760"/>
            <a:ext cx="109728" cy="196596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90448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7A3D"/>
                </a:solidFill>
                <a:latin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90448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B1F2A"/>
                </a:solidFill>
                <a:latin typeface="Calibri"/>
              </a:rPr>
              <a:t>Formulaire de contact = client 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07992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07A"/>
                </a:solidFill>
                <a:latin typeface="Calibri"/>
              </a:rPr>
              <a:t>Bug : La fiche produit ouvrait la messagerie au lieu d'un formulaire.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20640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DA58A"/>
                </a:solidFill>
                <a:latin typeface="Calibri"/>
              </a:rPr>
              <a:t>✓ Vrai formulaire de contact intégré à la page produit.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Tests unitaires — PHPUnit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enlo"/>
              </a:rPr>
              <a:t>docker compose exec web vendor/bin/phpunit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0241280" cy="4572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87A3D"/>
                </a:solidFill>
                <a:latin typeface="Menlo"/>
              </a:rPr>
              <a:t>$ docker compose exec web vendor/bin/phpunit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468880"/>
            <a:ext cx="2606040" cy="4572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606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E87A3D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Router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E87A3D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Controller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E87A3D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Model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E87A3D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View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E87A3D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46888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2468880"/>
            <a:ext cx="2606040" cy="457200"/>
          </a:xfrm>
          <a:prstGeom prst="rect">
            <a:avLst/>
          </a:prstGeom>
          <a:solidFill>
            <a:srgbClr val="3DA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2468880"/>
            <a:ext cx="2606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5468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3DA58A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User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3DA58A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Articles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3DA58A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Cities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46888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9320" y="2468880"/>
            <a:ext cx="2606040" cy="457200"/>
          </a:xfrm>
          <a:prstGeom prst="rect">
            <a:avLst/>
          </a:prstGeom>
          <a:solidFill>
            <a:srgbClr val="5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2468880"/>
            <a:ext cx="2606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Controllers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5B6BA8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Home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5B6BA8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User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5B6BA8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Product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5B6BA8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Api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5B6BA8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Contact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246888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32520" y="2468880"/>
            <a:ext cx="2606040" cy="457200"/>
          </a:xfrm>
          <a:prstGeom prst="rect">
            <a:avLst/>
          </a:prstGeom>
          <a:solidFill>
            <a:srgbClr val="D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2468880"/>
            <a:ext cx="2606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Utility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5468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D88A4A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Hash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D88A4A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Upload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D88A4A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Flash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50">
                <a:solidFill>
                  <a:srgbClr val="D88A4A"/>
                </a:solidFill>
                <a:latin typeface="Calibri"/>
              </a:rPr>
              <a:t>●  </a:t>
            </a:r>
            <a:r>
              <a:rPr sz="1350">
                <a:solidFill>
                  <a:srgbClr val="24272E"/>
                </a:solidFill>
                <a:latin typeface="Calibri"/>
              </a:rPr>
              <a:t>Mailer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Documentation de l'API — Swagger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6035040" cy="2571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200"/>
              </a:spcAft>
            </a:pPr>
            <a:r>
              <a:rPr sz="1350" dirty="0">
                <a:solidFill>
                  <a:srgbClr val="E87A3D"/>
                </a:solidFill>
                <a:latin typeface="Calibri"/>
              </a:rPr>
              <a:t>●  </a:t>
            </a:r>
            <a:r>
              <a:rPr sz="1650" b="1" dirty="0" err="1">
                <a:solidFill>
                  <a:srgbClr val="24272E"/>
                </a:solidFill>
                <a:latin typeface="Calibri"/>
              </a:rPr>
              <a:t>Génération</a:t>
            </a:r>
            <a:r>
              <a:rPr sz="1650" b="1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b="1" dirty="0" err="1">
                <a:solidFill>
                  <a:srgbClr val="24272E"/>
                </a:solidFill>
                <a:latin typeface="Calibri"/>
              </a:rPr>
              <a:t>OpenAPI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directement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depuis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les annotations du code des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contrôleurs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Api</a:t>
            </a:r>
          </a:p>
          <a:p>
            <a:pPr algn="l">
              <a:lnSpc>
                <a:spcPct val="108000"/>
              </a:lnSpc>
              <a:spcAft>
                <a:spcPts val="2200"/>
              </a:spcAft>
            </a:pPr>
            <a:r>
              <a:rPr sz="1350" dirty="0">
                <a:solidFill>
                  <a:srgbClr val="E87A3D"/>
                </a:solidFill>
                <a:latin typeface="Calibri"/>
              </a:rPr>
              <a:t>●  </a:t>
            </a:r>
            <a:r>
              <a:rPr sz="1650" b="1" dirty="0">
                <a:solidFill>
                  <a:srgbClr val="24272E"/>
                </a:solidFill>
                <a:latin typeface="Calibri"/>
              </a:rPr>
              <a:t>Interface Swagger UI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embarquée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dans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l'application</a:t>
            </a:r>
            <a:endParaRPr sz="1650" dirty="0">
              <a:solidFill>
                <a:srgbClr val="24272E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350" dirty="0">
                <a:solidFill>
                  <a:srgbClr val="E87A3D"/>
                </a:solidFill>
                <a:latin typeface="Calibri"/>
              </a:rPr>
              <a:t>●  </a:t>
            </a:r>
            <a:r>
              <a:rPr sz="1650" b="1" dirty="0">
                <a:solidFill>
                  <a:srgbClr val="24272E"/>
                </a:solidFill>
                <a:latin typeface="Calibri"/>
              </a:rPr>
              <a:t>Disponible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à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l'adresse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/</a:t>
            </a:r>
            <a:r>
              <a:rPr lang="fr-FR" sz="1650" dirty="0">
                <a:solidFill>
                  <a:srgbClr val="24272E"/>
                </a:solidFill>
              </a:rPr>
              <a:t>api-docs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une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fois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l'environnement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lancé</a:t>
            </a:r>
            <a:endParaRPr sz="1650" dirty="0">
              <a:solidFill>
                <a:srgbClr val="24272E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2200"/>
              </a:spcAft>
            </a:pPr>
            <a:r>
              <a:rPr sz="1350" dirty="0">
                <a:solidFill>
                  <a:srgbClr val="E87A3D"/>
                </a:solidFill>
                <a:latin typeface="Calibri"/>
              </a:rPr>
              <a:t>●  </a:t>
            </a:r>
            <a:r>
              <a:rPr sz="1650" b="1" dirty="0" err="1">
                <a:solidFill>
                  <a:srgbClr val="24272E"/>
                </a:solidFill>
                <a:latin typeface="Calibri"/>
              </a:rPr>
              <a:t>Toujours</a:t>
            </a:r>
            <a:r>
              <a:rPr sz="1650" b="1" dirty="0">
                <a:solidFill>
                  <a:srgbClr val="24272E"/>
                </a:solidFill>
                <a:latin typeface="Calibri"/>
              </a:rPr>
              <a:t> à jour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: la doc suit le code, pas de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fichier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séparé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à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maintenir</a:t>
            </a:r>
            <a:r>
              <a:rPr sz="1650" dirty="0">
                <a:solidFill>
                  <a:srgbClr val="24272E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4272E"/>
                </a:solidFill>
                <a:latin typeface="Calibri"/>
              </a:rPr>
              <a:t>manuellement</a:t>
            </a:r>
            <a:endParaRPr sz="1650" dirty="0">
              <a:solidFill>
                <a:srgbClr val="24272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0" y="1737360"/>
            <a:ext cx="4846320" cy="393192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9659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 dirty="0">
                <a:solidFill>
                  <a:srgbClr val="E87A3D"/>
                </a:solidFill>
                <a:latin typeface="Menlo"/>
              </a:rPr>
              <a:t>/</a:t>
            </a:r>
            <a:r>
              <a:rPr lang="fr-FR" sz="1700" b="1" dirty="0">
                <a:solidFill>
                  <a:srgbClr val="E87A3D"/>
                </a:solidFill>
                <a:latin typeface="Menlo"/>
              </a:rPr>
              <a:t>api-docs</a:t>
            </a:r>
            <a:endParaRPr sz="1700" b="1" i="0" dirty="0">
              <a:solidFill>
                <a:srgbClr val="E87A3D"/>
              </a:solidFill>
              <a:latin typeface="Menl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0" y="251460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150">
                <a:solidFill>
                  <a:srgbClr val="3DA58A"/>
                </a:solidFill>
                <a:latin typeface="Calibri"/>
              </a:rPr>
              <a:t>●  </a:t>
            </a:r>
            <a:r>
              <a:rPr sz="1450">
                <a:solidFill>
                  <a:srgbClr val="D8DCE2"/>
                </a:solidFill>
                <a:latin typeface="Calibri"/>
              </a:rPr>
              <a:t>GET  /api/articles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150">
                <a:solidFill>
                  <a:srgbClr val="3DA58A"/>
                </a:solidFill>
                <a:latin typeface="Calibri"/>
              </a:rPr>
              <a:t>●  </a:t>
            </a:r>
            <a:r>
              <a:rPr sz="1450">
                <a:solidFill>
                  <a:srgbClr val="D8DCE2"/>
                </a:solidFill>
                <a:latin typeface="Calibri"/>
              </a:rPr>
              <a:t>GET  /api/articles/{id}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150">
                <a:solidFill>
                  <a:srgbClr val="3DA58A"/>
                </a:solidFill>
                <a:latin typeface="Calibri"/>
              </a:rPr>
              <a:t>●  </a:t>
            </a:r>
            <a:r>
              <a:rPr sz="1450">
                <a:solidFill>
                  <a:srgbClr val="D8DCE2"/>
                </a:solidFill>
                <a:latin typeface="Calibri"/>
              </a:rPr>
              <a:t>GET  /api/cities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150">
                <a:solidFill>
                  <a:srgbClr val="3DA58A"/>
                </a:solidFill>
                <a:latin typeface="Calibri"/>
              </a:rPr>
              <a:t>●  </a:t>
            </a:r>
            <a:r>
              <a:rPr sz="1450">
                <a:solidFill>
                  <a:srgbClr val="D8DCE2"/>
                </a:solidFill>
                <a:latin typeface="Calibri"/>
              </a:rPr>
              <a:t>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VOLET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Environnement de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B707A"/>
                </a:solidFill>
                <a:latin typeface="Calibri"/>
              </a:rPr>
              <a:t>Deux containers, architecture volontairement différente du dev 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51206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5120640" cy="50292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Container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>
                <a:solidFill>
                  <a:srgbClr val="E87A3D"/>
                </a:solidFill>
                <a:latin typeface="Calibri"/>
              </a:rPr>
              <a:t>●  </a:t>
            </a:r>
            <a:r>
              <a:rPr sz="1400">
                <a:solidFill>
                  <a:srgbClr val="24272E"/>
                </a:solidFill>
                <a:latin typeface="Calibri"/>
              </a:rPr>
              <a:t>Code de main déjà intégré dans l'image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>
                <a:solidFill>
                  <a:srgbClr val="E87A3D"/>
                </a:solidFill>
                <a:latin typeface="Calibri"/>
              </a:rPr>
              <a:t>●  </a:t>
            </a:r>
            <a:r>
              <a:rPr sz="1400">
                <a:solidFill>
                  <a:srgbClr val="24272E"/>
                </a:solidFill>
                <a:latin typeface="Calibri"/>
              </a:rPr>
              <a:t>Aucun bind mount du code source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>
                <a:solidFill>
                  <a:srgbClr val="E87A3D"/>
                </a:solidFill>
                <a:latin typeface="Calibri"/>
              </a:rPr>
              <a:t>●  </a:t>
            </a:r>
            <a:r>
              <a:rPr sz="1400">
                <a:solidFill>
                  <a:srgbClr val="24272E"/>
                </a:solidFill>
                <a:latin typeface="Calibri"/>
              </a:rPr>
              <a:t>Image reconstruite à chaque déploiement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2194560"/>
            <a:ext cx="51206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0" y="2194560"/>
            <a:ext cx="5120640" cy="502920"/>
          </a:xfrm>
          <a:prstGeom prst="rect">
            <a:avLst/>
          </a:prstGeom>
          <a:solidFill>
            <a:srgbClr val="3DA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26771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Container Base de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346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>
                <a:solidFill>
                  <a:srgbClr val="3DA58A"/>
                </a:solidFill>
                <a:latin typeface="Calibri"/>
              </a:rPr>
              <a:t>●  </a:t>
            </a:r>
            <a:r>
              <a:rPr sz="1400">
                <a:solidFill>
                  <a:srgbClr val="24272E"/>
                </a:solidFill>
                <a:latin typeface="Calibri"/>
              </a:rPr>
              <a:t>Volume persistant dédié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>
                <a:solidFill>
                  <a:srgbClr val="3DA58A"/>
                </a:solidFill>
                <a:latin typeface="Calibri"/>
              </a:rPr>
              <a:t>●  </a:t>
            </a:r>
            <a:r>
              <a:rPr sz="1400">
                <a:solidFill>
                  <a:srgbClr val="24272E"/>
                </a:solidFill>
                <a:latin typeface="Calibri"/>
              </a:rPr>
              <a:t>Données conservées entre les redéploiements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100">
                <a:solidFill>
                  <a:srgbClr val="3DA58A"/>
                </a:solidFill>
                <a:latin typeface="Calibri"/>
              </a:rPr>
              <a:t>●  </a:t>
            </a:r>
            <a:r>
              <a:rPr sz="1400">
                <a:solidFill>
                  <a:srgbClr val="24272E"/>
                </a:solidFill>
                <a:latin typeface="Calibri"/>
              </a:rPr>
              <a:t>Identifiants isolés dans un .env de prod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10469880" cy="82296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7A3D"/>
                </a:solidFill>
                <a:latin typeface="Menlo"/>
              </a:rPr>
              <a:t>$ ./prod.sh</a:t>
            </a:r>
          </a:p>
          <a:p>
            <a:r>
              <a:rPr sz="1300">
                <a:solidFill>
                  <a:srgbClr val="D8DCE2"/>
                </a:solidFill>
                <a:latin typeface="Menlo"/>
              </a:rPr>
              <a:t>Build de l'image à partir de main, puis démarrage des deux 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7A3D"/>
                </a:solidFill>
                <a:latin typeface="Calibri"/>
              </a:rPr>
              <a:t>COHÉRENCE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Dev et prod tournent en parallèle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4846320" cy="329184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7A3D"/>
                </a:solidFill>
                <a:latin typeface="Calibri"/>
              </a:rPr>
              <a:t>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E87A3D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Port</a:t>
            </a:r>
            <a:r>
              <a:rPr sz="1500">
                <a:solidFill>
                  <a:srgbClr val="E6E9EE"/>
                </a:solidFill>
                <a:latin typeface="Calibri"/>
              </a:rPr>
              <a:t> 8080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E87A3D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.env.dev</a:t>
            </a:r>
            <a:r>
              <a:rPr sz="1500">
                <a:solidFill>
                  <a:srgbClr val="E6E9EE"/>
                </a:solidFill>
                <a:latin typeface="Calibri"/>
              </a:rPr>
              <a:t> dédié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E87A3D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Code monté</a:t>
            </a:r>
            <a:r>
              <a:rPr sz="1500">
                <a:solidFill>
                  <a:srgbClr val="E6E9EE"/>
                </a:solidFill>
                <a:latin typeface="Calibri"/>
              </a:rPr>
              <a:t> en bind mount, rechargé à chaud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E87A3D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Peut être en avance</a:t>
            </a:r>
            <a:r>
              <a:rPr sz="1500">
                <a:solidFill>
                  <a:srgbClr val="E6E9EE"/>
                </a:solidFill>
                <a:latin typeface="Calibri"/>
              </a:rPr>
              <a:t> sur la prod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03120"/>
            <a:ext cx="4846320" cy="329184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A58A"/>
                </a:solidFill>
                <a:latin typeface="Calibri"/>
              </a:rPr>
              <a:t>Prod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4320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3DA58A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Port dédié</a:t>
            </a:r>
            <a:r>
              <a:rPr sz="1500">
                <a:solidFill>
                  <a:srgbClr val="E6E9EE"/>
                </a:solidFill>
                <a:latin typeface="Calibri"/>
              </a:rPr>
              <a:t> distinct du dev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3DA58A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.env de prod</a:t>
            </a:r>
            <a:r>
              <a:rPr sz="1500">
                <a:solidFill>
                  <a:srgbClr val="E6E9EE"/>
                </a:solidFill>
                <a:latin typeface="Calibri"/>
              </a:rPr>
              <a:t> séparé, isolé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3DA58A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Code figé</a:t>
            </a:r>
            <a:r>
              <a:rPr sz="1500">
                <a:solidFill>
                  <a:srgbClr val="E6E9EE"/>
                </a:solidFill>
                <a:latin typeface="Calibri"/>
              </a:rPr>
              <a:t> dans l'image au build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200">
                <a:solidFill>
                  <a:srgbClr val="3DA58A"/>
                </a:solidFill>
                <a:latin typeface="Calibri"/>
              </a:rPr>
              <a:t>●  </a:t>
            </a:r>
            <a:r>
              <a:rPr sz="1500" b="1">
                <a:solidFill>
                  <a:srgbClr val="E6E9EE"/>
                </a:solidFill>
                <a:latin typeface="Calibri"/>
              </a:rPr>
              <a:t>Reflète</a:t>
            </a:r>
            <a:r>
              <a:rPr sz="1500">
                <a:solidFill>
                  <a:srgbClr val="E6E9EE"/>
                </a:solidFill>
                <a:latin typeface="Calibri"/>
              </a:rPr>
              <a:t> toujours l'état de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dirty="0" err="1">
                <a:solidFill>
                  <a:srgbClr val="C9CED6"/>
                </a:solidFill>
                <a:latin typeface="Calibri"/>
              </a:rPr>
              <a:t>Chaque</a:t>
            </a:r>
            <a:r>
              <a:rPr sz="1400" b="0" i="1" dirty="0">
                <a:solidFill>
                  <a:srgbClr val="C9CED6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C9CED6"/>
                </a:solidFill>
                <a:latin typeface="Calibri"/>
              </a:rPr>
              <a:t>environnement</a:t>
            </a:r>
            <a:r>
              <a:rPr sz="1400" b="0" i="1" dirty="0">
                <a:solidFill>
                  <a:srgbClr val="C9CED6"/>
                </a:solidFill>
                <a:latin typeface="Calibri"/>
              </a:rPr>
              <a:t> se </a:t>
            </a:r>
            <a:r>
              <a:rPr sz="1400" b="0" i="1" dirty="0" err="1">
                <a:solidFill>
                  <a:srgbClr val="C9CED6"/>
                </a:solidFill>
                <a:latin typeface="Calibri"/>
              </a:rPr>
              <a:t>construit</a:t>
            </a:r>
            <a:r>
              <a:rPr sz="1400" b="0" i="1" dirty="0">
                <a:solidFill>
                  <a:srgbClr val="C9CED6"/>
                </a:solidFill>
                <a:latin typeface="Calibri"/>
              </a:rPr>
              <a:t> et se lance via son propre script .</a:t>
            </a:r>
            <a:r>
              <a:rPr sz="1400" b="0" i="1" dirty="0" err="1">
                <a:solidFill>
                  <a:srgbClr val="C9CED6"/>
                </a:solidFill>
                <a:latin typeface="Calibri"/>
              </a:rPr>
              <a:t>sh</a:t>
            </a:r>
            <a:r>
              <a:rPr sz="1400" b="0" i="1" dirty="0">
                <a:solidFill>
                  <a:srgbClr val="C9CED6"/>
                </a:solidFill>
                <a:latin typeface="Calibri"/>
              </a:rPr>
              <a:t> — reproductible et </a:t>
            </a:r>
            <a:r>
              <a:rPr sz="1400" b="0" i="1" dirty="0" err="1">
                <a:solidFill>
                  <a:srgbClr val="C9CED6"/>
                </a:solidFill>
                <a:latin typeface="Calibri"/>
              </a:rPr>
              <a:t>isolé</a:t>
            </a:r>
            <a:r>
              <a:rPr sz="1400" b="0" i="1" dirty="0">
                <a:solidFill>
                  <a:srgbClr val="C9CED6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A9FAA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9FAA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A58A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Développement en direct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822960" cy="4445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822960" cy="1143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8229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745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B1F2A"/>
                </a:solidFill>
                <a:latin typeface="Calibri"/>
              </a:rPr>
              <a:t>Constat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8600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07A"/>
                </a:solidFill>
                <a:latin typeface="Calibri"/>
              </a:rPr>
              <a:t>Montrer que l'environnement de dev est à jour avec une nouvelle fonctionnalité, alors que la prod tourne encore sur l'ancienne version.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46120"/>
            <a:ext cx="822960" cy="1143000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8229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B1F2A"/>
                </a:solidFill>
                <a:latin typeface="Calibri"/>
              </a:rPr>
              <a:t>GitFlow en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0332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07A"/>
                </a:solidFill>
                <a:latin typeface="Calibri"/>
              </a:rPr>
              <a:t>Créer une branche depuis dev, coder la modification préparée à l'avance, committer, ouvrir la merge request vers main.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63440"/>
            <a:ext cx="822960" cy="1143000"/>
          </a:xfrm>
          <a:prstGeom prst="rect">
            <a:avLst/>
          </a:prstGeom>
          <a:solidFill>
            <a:srgbClr val="3DA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8229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7091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B1F2A"/>
                </a:solidFill>
                <a:latin typeface="Calibri"/>
              </a:rPr>
              <a:t>Mise à jour 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1206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07A"/>
                </a:solidFill>
                <a:latin typeface="Calibri"/>
              </a:rPr>
              <a:t>Rebuild de l'image de prod à partir de main, redémarrage du container web — la nouvelle version est en ligne.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A8F99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F99"/>
                </a:solidFill>
                <a:latin typeface="Calibri"/>
              </a:rPr>
              <a:t>Vide Grenier en Ligne — Bloc 5 CESI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DA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7A3D"/>
                </a:solidFill>
                <a:latin typeface="Calibri"/>
              </a:rP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Un projet remis d'aplomb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3DA58A"/>
                </a:solidFill>
                <a:latin typeface="Calibri"/>
              </a:rPr>
              <a:t>●  </a:t>
            </a:r>
            <a:r>
              <a:rPr sz="1700" b="1">
                <a:solidFill>
                  <a:srgbClr val="E6E9EE"/>
                </a:solidFill>
                <a:latin typeface="Calibri"/>
              </a:rPr>
              <a:t>4/4 bugs</a:t>
            </a:r>
            <a:r>
              <a:rPr sz="1700">
                <a:solidFill>
                  <a:srgbClr val="E6E9EE"/>
                </a:solidFill>
                <a:latin typeface="Calibri"/>
              </a:rPr>
              <a:t> remontés par le client corrigés et vérifiés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3DA58A"/>
                </a:solidFill>
                <a:latin typeface="Calibri"/>
              </a:rPr>
              <a:t>●  </a:t>
            </a:r>
            <a:r>
              <a:rPr sz="1700" b="1">
                <a:solidFill>
                  <a:srgbClr val="E6E9EE"/>
                </a:solidFill>
                <a:latin typeface="Calibri"/>
              </a:rPr>
              <a:t>Suite de tests unitaires</a:t>
            </a:r>
            <a:r>
              <a:rPr sz="1700">
                <a:solidFill>
                  <a:srgbClr val="E6E9EE"/>
                </a:solidFill>
                <a:latin typeface="Calibri"/>
              </a:rPr>
              <a:t> couvrant le cœur du framework, les modèles et les contrôleurs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3DA58A"/>
                </a:solidFill>
                <a:latin typeface="Calibri"/>
              </a:rPr>
              <a:t>●  </a:t>
            </a:r>
            <a:r>
              <a:rPr sz="1700" b="1">
                <a:solidFill>
                  <a:srgbClr val="E6E9EE"/>
                </a:solidFill>
                <a:latin typeface="Calibri"/>
              </a:rPr>
              <a:t>Deux environnements Docker</a:t>
            </a:r>
            <a:r>
              <a:rPr sz="1700">
                <a:solidFill>
                  <a:srgbClr val="E6E9EE"/>
                </a:solidFill>
                <a:latin typeface="Calibri"/>
              </a:rPr>
              <a:t> indépendants, reproductibles et coexistants (dev / prod)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3DA58A"/>
                </a:solidFill>
                <a:latin typeface="Calibri"/>
              </a:rPr>
              <a:t>●  </a:t>
            </a:r>
            <a:r>
              <a:rPr sz="1700" b="1">
                <a:solidFill>
                  <a:srgbClr val="E6E9EE"/>
                </a:solidFill>
                <a:latin typeface="Calibri"/>
              </a:rPr>
              <a:t>Documentation API</a:t>
            </a:r>
            <a:r>
              <a:rPr sz="1700">
                <a:solidFill>
                  <a:srgbClr val="E6E9EE"/>
                </a:solidFill>
                <a:latin typeface="Calibri"/>
              </a:rPr>
              <a:t> générée automatiquement et toujours à jour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3DA58A"/>
                </a:solidFill>
                <a:latin typeface="Calibri"/>
              </a:rPr>
              <a:t>●  </a:t>
            </a:r>
            <a:r>
              <a:rPr sz="1700" b="1">
                <a:solidFill>
                  <a:srgbClr val="E6E9EE"/>
                </a:solidFill>
                <a:latin typeface="Calibri"/>
              </a:rPr>
              <a:t>Historique Git</a:t>
            </a:r>
            <a:r>
              <a:rPr sz="1700">
                <a:solidFill>
                  <a:srgbClr val="E6E9EE"/>
                </a:solidFill>
                <a:latin typeface="Calibri"/>
              </a:rPr>
              <a:t> traçable de bout en bout, en GitFlow, via issues et merge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9144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1" dirty="0">
                <a:solidFill>
                  <a:srgbClr val="E87A3D"/>
                </a:solidFill>
                <a:latin typeface="Calibri"/>
              </a:rPr>
              <a:t>Merci</a:t>
            </a:r>
            <a:r>
              <a:rPr lang="fr-FR" sz="1800" b="1" i="1">
                <a:solidFill>
                  <a:srgbClr val="E87A3D"/>
                </a:solidFill>
                <a:latin typeface="Calibri"/>
              </a:rPr>
              <a:t>,</a:t>
            </a:r>
            <a:r>
              <a:rPr sz="1800" b="1" i="1">
                <a:solidFill>
                  <a:srgbClr val="E87A3D"/>
                </a:solidFill>
                <a:latin typeface="Calibri"/>
              </a:rPr>
              <a:t> </a:t>
            </a:r>
            <a:r>
              <a:rPr sz="1800" b="1" i="1" dirty="0">
                <a:solidFill>
                  <a:srgbClr val="E87A3D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1254</Words>
  <Application>Microsoft Macintosh PowerPoint</Application>
  <PresentationFormat>Grand écran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Menlo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MULLER HEDDAR TÉO</cp:lastModifiedBy>
  <cp:revision>2</cp:revision>
  <dcterms:created xsi:type="dcterms:W3CDTF">2013-01-27T09:14:16Z</dcterms:created>
  <dcterms:modified xsi:type="dcterms:W3CDTF">2026-08-26T22:03:21Z</dcterms:modified>
  <cp:category/>
</cp:coreProperties>
</file>